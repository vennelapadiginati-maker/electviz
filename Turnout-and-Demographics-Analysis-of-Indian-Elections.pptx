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Cabin"/>
      <p:regular r:id="rId19"/>
    </p:embeddedFont>
    <p:embeddedFont>
      <p:font typeface="Cabin"/>
      <p:regular r:id="rId20"/>
    </p:embeddedFont>
    <p:embeddedFont>
      <p:font typeface="Cabin"/>
      <p:regular r:id="rId21"/>
    </p:embeddedFont>
    <p:embeddedFont>
      <p:font typeface="Cabin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85818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Turnout &amp; Demographics Analysis of Indian Elections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976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1951–2024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24124" y="540853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Interactive Power BI Dashboard Project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606075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Padiginati Vennela | MCA – Data Analytics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1055" y="668179"/>
            <a:ext cx="5976818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About the Analyst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21055" y="1702951"/>
            <a:ext cx="3635931" cy="3000018"/>
          </a:xfrm>
          <a:prstGeom prst="roundRect">
            <a:avLst>
              <a:gd name="adj" fmla="val 1173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1055608" y="1937504"/>
            <a:ext cx="703778" cy="703778"/>
          </a:xfrm>
          <a:prstGeom prst="roundRect">
            <a:avLst>
              <a:gd name="adj" fmla="val 12991434"/>
            </a:avLst>
          </a:prstGeom>
          <a:solidFill>
            <a:srgbClr val="0A988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9085" y="2130981"/>
            <a:ext cx="316706" cy="3167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5608" y="2871192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MCA Student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55608" y="3353991"/>
            <a:ext cx="3166824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Specializing in Data Analytics with focus on business intelligence and visualization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686895" y="1702951"/>
            <a:ext cx="3636050" cy="3000018"/>
          </a:xfrm>
          <a:prstGeom prst="roundRect">
            <a:avLst>
              <a:gd name="adj" fmla="val 1173"/>
            </a:avLst>
          </a:prstGeom>
          <a:solidFill>
            <a:srgbClr val="304755"/>
          </a:solidFill>
          <a:ln/>
        </p:spPr>
      </p:sp>
      <p:sp>
        <p:nvSpPr>
          <p:cNvPr id="10" name="Shape 6"/>
          <p:cNvSpPr/>
          <p:nvPr/>
        </p:nvSpPr>
        <p:spPr>
          <a:xfrm>
            <a:off x="4921448" y="1937504"/>
            <a:ext cx="703778" cy="703778"/>
          </a:xfrm>
          <a:prstGeom prst="roundRect">
            <a:avLst>
              <a:gd name="adj" fmla="val 12991434"/>
            </a:avLst>
          </a:prstGeom>
          <a:solidFill>
            <a:srgbClr val="0A988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4925" y="2130981"/>
            <a:ext cx="316706" cy="3167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21448" y="2871192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Technical Skills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4921448" y="3353991"/>
            <a:ext cx="316694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BI, Excel, SQL, and data preparation techniques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821055" y="4932878"/>
            <a:ext cx="7501890" cy="2628543"/>
          </a:xfrm>
          <a:prstGeom prst="roundRect">
            <a:avLst>
              <a:gd name="adj" fmla="val 1339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1055608" y="5167432"/>
            <a:ext cx="703778" cy="703778"/>
          </a:xfrm>
          <a:prstGeom prst="roundRect">
            <a:avLst>
              <a:gd name="adj" fmla="val 12991434"/>
            </a:avLst>
          </a:prstGeom>
          <a:solidFill>
            <a:srgbClr val="0A98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9085" y="5360908"/>
            <a:ext cx="316706" cy="3167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5608" y="6101120"/>
            <a:ext cx="3430072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Professional Passion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1055608" y="6583918"/>
            <a:ext cx="703278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Transforming raw data into actionable insights through compelling visualizations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05771"/>
            <a:ext cx="612671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64894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3145512"/>
            <a:ext cx="381893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Turnout Trend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641050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Examine voter participation patterns across 73 years of Indian elections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34858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2964894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9" name="Text 7"/>
          <p:cNvSpPr/>
          <p:nvPr/>
        </p:nvSpPr>
        <p:spPr>
          <a:xfrm>
            <a:off x="7434858" y="3145512"/>
            <a:ext cx="450651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State Performance Review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34858" y="3641050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states demonstrating higher levels of electoral engagement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482584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5202198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3" name="Text 11"/>
          <p:cNvSpPr/>
          <p:nvPr/>
        </p:nvSpPr>
        <p:spPr>
          <a:xfrm>
            <a:off x="837724" y="5382816"/>
            <a:ext cx="45110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Constituency Engagement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7724" y="587835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 grassroots-level voter behavior and participation rates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434858" y="482584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202198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858" y="5382816"/>
            <a:ext cx="432899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Demographic Distribution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34858" y="5878354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Understand gender and category representation among election winners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118" y="1088708"/>
            <a:ext cx="5502712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57118" y="2213610"/>
            <a:ext cx="3923228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Comprehensive Coverage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7118" y="2727246"/>
            <a:ext cx="4247555" cy="131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Dataset spans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73 years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of Indian electoral history from the first general election in 1951 through 2024, encompassing over seven decades of democratic participation.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7118" y="4240530"/>
            <a:ext cx="2870121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Data Elements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7118" y="4754166"/>
            <a:ext cx="4247555" cy="231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Election Year and Cycle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State and Constituency Names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Political Party Affiliation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Vote Counts and Turnout %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Constituency Category Classification</a:t>
            </a:r>
            <a:endParaRPr lang="en-US" sz="170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Winner Gender Demographics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9978" y="2251829"/>
            <a:ext cx="8340804" cy="4655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30943"/>
            <a:ext cx="68594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Tools &amp; Technologies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3013710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5336" y="30137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35336" y="3509248"/>
            <a:ext cx="54302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Primary platform for interactive dashboard development, data visualization, and business intelligence reporting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3013710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2355" y="30137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Excel &amp; CSV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62355" y="3509248"/>
            <a:ext cx="54303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preparation, cleaning, and transformation workflows to ensure data quality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724" y="5137071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5336" y="51370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35336" y="5632609"/>
            <a:ext cx="54302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Querying and extracting insights from structured datasets efficiently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4743" y="5137071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2355" y="5137071"/>
            <a:ext cx="328755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Analytical Methods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62355" y="5632609"/>
            <a:ext cx="54303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Geographic mapping, trend analysis, and demographic segmentation techniques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67922"/>
            <a:ext cx="708350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6506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interactive Power BI dashboard organizes election analytics into five key sections: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302913"/>
            <a:ext cx="4158734" cy="1801177"/>
          </a:xfrm>
          <a:prstGeom prst="roundRect">
            <a:avLst>
              <a:gd name="adj" fmla="val 1994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7519" y="35727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KPI Cards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7519" y="4068247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Turnout metrics and participation rates at a glance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302913"/>
            <a:ext cx="4158734" cy="1801177"/>
          </a:xfrm>
          <a:prstGeom prst="roundRect">
            <a:avLst>
              <a:gd name="adj" fmla="val 1994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5569" y="3572708"/>
            <a:ext cx="309979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State Comparison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05569" y="4068247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Regional turnout percentages side-by-side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33823" y="3302913"/>
            <a:ext cx="4158853" cy="1801177"/>
          </a:xfrm>
          <a:prstGeom prst="roundRect">
            <a:avLst>
              <a:gd name="adj" fmla="val 1994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3619" y="35727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Geographic Map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903619" y="4068247"/>
            <a:ext cx="36192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 distribution of votes across India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5343406"/>
            <a:ext cx="6357818" cy="1418153"/>
          </a:xfrm>
          <a:prstGeom prst="roundRect">
            <a:avLst>
              <a:gd name="adj" fmla="val 2532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7519" y="5613202"/>
            <a:ext cx="32309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Constituencies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7519" y="6108740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High-participation areas ranked by turnout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343406"/>
            <a:ext cx="6357818" cy="1418153"/>
          </a:xfrm>
          <a:prstGeom prst="roundRect">
            <a:avLst>
              <a:gd name="adj" fmla="val 2532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4653" y="5613202"/>
            <a:ext cx="328302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Gender Distribution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04653" y="6108740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Male and female winner breakdown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70697"/>
            <a:ext cx="937676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Performance Indicators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073122"/>
            <a:ext cx="632781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100%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2593538" y="41620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Highest Turnout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657606"/>
            <a:ext cx="63278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Single constituency achieved maximum participation in an election cycle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464743" y="3073122"/>
            <a:ext cx="632793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38.45%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220557" y="41620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Average Turnout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64743" y="4657606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Overall voter participation across all elections from 1951–2024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69285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These metrics provide a summary of voter participation levels and highlight the gap between maximum potential turnout and actual average participation.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673" y="679609"/>
            <a:ext cx="9275088" cy="68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State-Level Turnout Analysis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13673" y="1814870"/>
            <a:ext cx="13003054" cy="3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Regional comparison reveals significant variation in electoral participation across Indian states: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3673" y="2857143"/>
            <a:ext cx="3280529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Geographic Insights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13673" y="3424714"/>
            <a:ext cx="4182308" cy="146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 mapping highlights regional patterns in voter engagement, with certain states consistently demonstrating stronger electoral participation than others.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673" y="5116830"/>
            <a:ext cx="2735104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Findings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13673" y="5684401"/>
            <a:ext cx="4182308" cy="146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States with higher literacy rates and urbanization levels show elevated turnout percentages, while remote and rural regions face accessibility challenges.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815" y="2689384"/>
            <a:ext cx="8253412" cy="4606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621" y="666631"/>
            <a:ext cx="6823353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Demographic Insights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74621" y="1399342"/>
            <a:ext cx="7657862" cy="52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Gender Distribution of Winners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2619613" y="3665577"/>
            <a:ext cx="2722483" cy="553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94.1%</a:t>
            </a:r>
            <a:endParaRPr lang="en-US" sz="4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0885" y="2282190"/>
            <a:ext cx="3320177" cy="33201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78906" y="5862280"/>
            <a:ext cx="2604016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Male Winners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74621" y="6310432"/>
            <a:ext cx="641270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Overwhelming majority of election victors across 1951–2024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288066" y="3665577"/>
            <a:ext cx="2722483" cy="553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5.44%</a:t>
            </a:r>
            <a:endParaRPr lang="en-US" sz="4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338" y="2282190"/>
            <a:ext cx="3320177" cy="33201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47359" y="5862280"/>
            <a:ext cx="2604016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Female Winners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7443073" y="6310432"/>
            <a:ext cx="641270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Significant gender gap in political representation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4621" y="6881336"/>
            <a:ext cx="13081159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data reveals persistent gender disparity in electoral success, with male candidates winning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17 times more frequently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than female candidates. This gap reflects broader societal challenges in political participation and representation.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959" y="663416"/>
            <a:ext cx="9371409" cy="683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Key Takeaways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59" y="1797248"/>
            <a:ext cx="1161336" cy="1393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9680" y="2029420"/>
            <a:ext cx="2948464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Visual Storytelling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199680" y="2506028"/>
            <a:ext cx="11617762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Interactive dashboards transform complex electoral datasets into intuitive, actionable insights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59" y="3190875"/>
            <a:ext cx="1161336" cy="13936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99680" y="3423047"/>
            <a:ext cx="2732723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Research Value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2199680" y="3899654"/>
            <a:ext cx="11617762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Comprehensive analysis supports academic research and governance understanding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59" y="4584502"/>
            <a:ext cx="1161336" cy="13936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99680" y="4816673"/>
            <a:ext cx="3355300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Professional Growth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2199680" y="5293281"/>
            <a:ext cx="11617762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 enhanced practical data analytics, visualization, and business intelligence capabilities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812959" y="6231612"/>
            <a:ext cx="13004483" cy="1334453"/>
          </a:xfrm>
          <a:prstGeom prst="roundRect">
            <a:avLst>
              <a:gd name="adj" fmla="val 2611"/>
            </a:avLst>
          </a:prstGeom>
          <a:solidFill>
            <a:srgbClr val="0548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31" y="6577608"/>
            <a:ext cx="290274" cy="2321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67577" y="6514981"/>
            <a:ext cx="12017693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 Steps: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Expand analysis to include party performance trends, margin of victory patterns, and correlation between socio-economic indicators and voter turnout.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2026-03-07T18:27:43Z</dcterms:created>
  <dcterms:modified xsi:type="dcterms:W3CDTF">2026-03-07T18:27:43Z</dcterms:modified>
</cp:coreProperties>
</file>